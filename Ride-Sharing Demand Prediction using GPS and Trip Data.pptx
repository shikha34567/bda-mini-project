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1234440"/>
            <a:ext cx="146304" cy="14630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" name="Shape 1"/>
          <p:cNvSpPr/>
          <p:nvPr/>
        </p:nvSpPr>
        <p:spPr>
          <a:xfrm>
            <a:off x="10104120" y="1600200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8732520" y="2331720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9921240" y="2697480"/>
            <a:ext cx="146304" cy="14630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6" name="Shape 4"/>
          <p:cNvSpPr/>
          <p:nvPr/>
        </p:nvSpPr>
        <p:spPr>
          <a:xfrm>
            <a:off x="11018520" y="2148840"/>
            <a:ext cx="82296" cy="822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9326880" y="352044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10515600" y="3977640"/>
            <a:ext cx="82296" cy="822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9052560" y="4526280"/>
            <a:ext cx="146304" cy="14630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0" name="Shape 8"/>
          <p:cNvSpPr/>
          <p:nvPr/>
        </p:nvSpPr>
        <p:spPr>
          <a:xfrm>
            <a:off x="10149840" y="5074920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11109960" y="4434840"/>
            <a:ext cx="82296" cy="822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9646920" y="562356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9217152" y="1307592"/>
            <a:ext cx="886968" cy="338328"/>
          </a:xfrm>
          <a:prstGeom prst="line">
            <a:avLst/>
          </a:prstGeom>
          <a:noFill/>
          <a:ln w="9525">
            <a:solidFill>
              <a:srgbClr val="1C7293">
                <a:alpha val="7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994392" y="1645920"/>
            <a:ext cx="109728" cy="1051560"/>
          </a:xfrm>
          <a:prstGeom prst="line">
            <a:avLst/>
          </a:prstGeom>
          <a:noFill/>
          <a:ln w="9525">
            <a:solidFill>
              <a:srgbClr val="1C7293">
                <a:alpha val="7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05672" y="2377440"/>
            <a:ext cx="1188720" cy="320040"/>
          </a:xfrm>
          <a:prstGeom prst="line">
            <a:avLst/>
          </a:prstGeom>
          <a:noFill/>
          <a:ln w="9525">
            <a:solidFill>
              <a:srgbClr val="1C7293">
                <a:alpha val="7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00032" y="2770632"/>
            <a:ext cx="594360" cy="749808"/>
          </a:xfrm>
          <a:prstGeom prst="line">
            <a:avLst/>
          </a:prstGeom>
          <a:noFill/>
          <a:ln w="9525">
            <a:solidFill>
              <a:srgbClr val="1C7293">
                <a:alpha val="7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25712" y="3630168"/>
            <a:ext cx="274320" cy="896112"/>
          </a:xfrm>
          <a:prstGeom prst="line">
            <a:avLst/>
          </a:prstGeom>
          <a:noFill/>
          <a:ln w="9525">
            <a:solidFill>
              <a:srgbClr val="1C7293">
                <a:alpha val="7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98864" y="4599432"/>
            <a:ext cx="987552" cy="475488"/>
          </a:xfrm>
          <a:prstGeom prst="line">
            <a:avLst/>
          </a:prstGeom>
          <a:noFill/>
          <a:ln w="9525">
            <a:solidFill>
              <a:srgbClr val="1C7293">
                <a:alpha val="7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20072" y="5157216"/>
            <a:ext cx="466344" cy="466344"/>
          </a:xfrm>
          <a:prstGeom prst="line">
            <a:avLst/>
          </a:prstGeom>
          <a:noFill/>
          <a:ln w="9525">
            <a:solidFill>
              <a:srgbClr val="1C7293">
                <a:alpha val="7000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594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ARCHITECTURE  •  MINI PROJECT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2286000"/>
            <a:ext cx="8138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Ride-Sharing Demand Prediction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GPS and Trip Data</a:t>
            </a:r>
            <a:endParaRPr lang="en-US" sz="3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416052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Big Data architecture for zone-level ride-demand forecasting, from streaming ingestion to a predictive heatmap.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58368" y="5029200"/>
            <a:ext cx="1463040" cy="0"/>
          </a:xfrm>
          <a:prstGeom prst="line">
            <a:avLst/>
          </a:prstGeom>
          <a:noFill/>
          <a:ln w="31750">
            <a:solidFill>
              <a:srgbClr val="F2A54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519379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 ·  Spark Structured Streaming  ·  H3 / Geohash  ·  Cassandra / Redis  ·  XGBoost / LSTM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56692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5925312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Monisha Dhar (241801172)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Muthu Sriram R (241801174)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Shikha Ajith (241801263)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Ride-sharing platforms continuously generate GPS pings, trip requests, cancellations, and driver-availability updates. Traditional, batch-oriented data systems cannot process this volume and velocity fast enough to reflect real, location-specific demand — causing drivers to miss emerging demand and riders to face longer wait times.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2560320" cy="2148840"/>
          </a:xfrm>
          <a:prstGeom prst="roundRect">
            <a:avLst>
              <a:gd name="adj" fmla="val 3404"/>
            </a:avLst>
          </a:prstGeom>
          <a:solidFill>
            <a:srgbClr val="EAF3F6"/>
          </a:solidFill>
          <a:ln/>
          <a:effectLst>
            <a:outerShdw sx="100000" sy="100000" kx="0" ky="0" algn="bl" rotWithShape="0" blurRad="76200" dist="25400" dir="5400000">
              <a:srgbClr val="9AA9B2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53288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310896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Volume &amp; Velocity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61188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GPS pings and trip events arrive every second from a live, city-wide fleet.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28416" y="2331720"/>
            <a:ext cx="2560320" cy="2148840"/>
          </a:xfrm>
          <a:prstGeom prst="roundRect">
            <a:avLst>
              <a:gd name="adj" fmla="val 3404"/>
            </a:avLst>
          </a:prstGeom>
          <a:solidFill>
            <a:srgbClr val="EAF3F6"/>
          </a:solidFill>
          <a:ln/>
          <a:effectLst>
            <a:outerShdw sx="100000" sy="100000" kx="0" ky="0" algn="bl" rotWithShape="0" blurRad="76200" dist="25400" dir="5400000">
              <a:srgbClr val="9AA9B2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29584" y="253288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29584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29584" y="310896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Complexity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529584" y="361188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differs street-by-street and zone-by-zone — not just city-wide averages.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08192" y="2331720"/>
            <a:ext cx="2560320" cy="2148840"/>
          </a:xfrm>
          <a:prstGeom prst="roundRect">
            <a:avLst>
              <a:gd name="adj" fmla="val 3404"/>
            </a:avLst>
          </a:prstGeom>
          <a:solidFill>
            <a:srgbClr val="EAF3F6"/>
          </a:solidFill>
          <a:ln/>
          <a:effectLst>
            <a:outerShdw sx="100000" sy="100000" kx="0" ky="0" algn="bl" rotWithShape="0" blurRad="76200" dist="25400" dir="5400000">
              <a:srgbClr val="9AA9B2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253288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0936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310896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Requirement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361188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analytics runs too late to capture fast-shifting, minute-to-minute demand.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887968" y="2331720"/>
            <a:ext cx="2560320" cy="2148840"/>
          </a:xfrm>
          <a:prstGeom prst="roundRect">
            <a:avLst>
              <a:gd name="adj" fmla="val 3404"/>
            </a:avLst>
          </a:prstGeom>
          <a:solidFill>
            <a:srgbClr val="EAF3F6"/>
          </a:solidFill>
          <a:ln/>
          <a:effectLst>
            <a:outerShdw sx="100000" sy="100000" kx="0" ky="0" algn="bl" rotWithShape="0" blurRad="76200" dist="25400" dir="5400000">
              <a:srgbClr val="9AA9B2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089136" y="253288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089136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089136" y="310896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Supply–Demand Mismatch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9089136" y="361188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rarely learn about emerging high-demand zones in time to reposition.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8006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065A8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" y="480060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scalable Big Data architecture that ingests, processes, and predicts ride demand at the zone level in near real time.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Workflow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GPS / trip events → streaming pipeline → zone-level demand prediction → heatmap dashboard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063240" cy="1783080"/>
          </a:xfrm>
          <a:prstGeom prst="roundRect">
            <a:avLst>
              <a:gd name="adj" fmla="val 3590"/>
            </a:avLst>
          </a:prstGeom>
          <a:solidFill>
            <a:srgbClr val="EAF3F6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67335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673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65506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221992"/>
            <a:ext cx="26609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pings &amp; trip events streamed continuously via Kafka topics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48456" y="2253996"/>
            <a:ext cx="310896" cy="292608"/>
          </a:xfrm>
          <a:prstGeom prst="chevron">
            <a:avLst/>
          </a:prstGeom>
          <a:solidFill>
            <a:srgbClr val="F2A541"/>
          </a:solidFill>
          <a:ln/>
        </p:spPr>
      </p:sp>
      <p:sp>
        <p:nvSpPr>
          <p:cNvPr id="10" name="Shape 8"/>
          <p:cNvSpPr/>
          <p:nvPr/>
        </p:nvSpPr>
        <p:spPr>
          <a:xfrm>
            <a:off x="3995928" y="1508760"/>
            <a:ext cx="3063240" cy="1783080"/>
          </a:xfrm>
          <a:prstGeom prst="roundRect">
            <a:avLst>
              <a:gd name="adj" fmla="val 3590"/>
            </a:avLst>
          </a:prstGeom>
          <a:solidFill>
            <a:srgbClr val="EAF3F6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60520" y="1673352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160520" y="1673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165506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Processing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197096" y="2221992"/>
            <a:ext cx="26609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Structured Streaming + H3 / Geohash zone binning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95744" y="2253996"/>
            <a:ext cx="310896" cy="292608"/>
          </a:xfrm>
          <a:prstGeom prst="chevron">
            <a:avLst/>
          </a:prstGeom>
          <a:solidFill>
            <a:srgbClr val="F2A541"/>
          </a:solidFill>
          <a:ln/>
        </p:spPr>
      </p:sp>
      <p:sp>
        <p:nvSpPr>
          <p:cNvPr id="16" name="Shape 14"/>
          <p:cNvSpPr/>
          <p:nvPr/>
        </p:nvSpPr>
        <p:spPr>
          <a:xfrm>
            <a:off x="7443216" y="1508760"/>
            <a:ext cx="3063240" cy="1783080"/>
          </a:xfrm>
          <a:prstGeom prst="roundRect">
            <a:avLst>
              <a:gd name="adj" fmla="val 3590"/>
            </a:avLst>
          </a:prstGeom>
          <a:solidFill>
            <a:srgbClr val="EAF3F6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07808" y="167335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607808" y="1673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083296" y="165506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644384" y="2221992"/>
            <a:ext cx="26609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counts, driver availability, time &amp; trend features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794760"/>
            <a:ext cx="3063240" cy="1783080"/>
          </a:xfrm>
          <a:prstGeom prst="roundRect">
            <a:avLst>
              <a:gd name="adj" fmla="val 3590"/>
            </a:avLst>
          </a:prstGeom>
          <a:solidFill>
            <a:srgbClr val="EAF3F6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" y="3959352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3232" y="3959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394106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Prediction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49808" y="4507992"/>
            <a:ext cx="26609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/ LSTM forecast short-term demand per zone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48456" y="4539996"/>
            <a:ext cx="310896" cy="292608"/>
          </a:xfrm>
          <a:prstGeom prst="chevron">
            <a:avLst/>
          </a:prstGeom>
          <a:solidFill>
            <a:srgbClr val="F2A541"/>
          </a:solidFill>
          <a:ln/>
        </p:spPr>
      </p:sp>
      <p:sp>
        <p:nvSpPr>
          <p:cNvPr id="27" name="Shape 25"/>
          <p:cNvSpPr/>
          <p:nvPr/>
        </p:nvSpPr>
        <p:spPr>
          <a:xfrm>
            <a:off x="3995928" y="3794760"/>
            <a:ext cx="3063240" cy="1783080"/>
          </a:xfrm>
          <a:prstGeom prst="roundRect">
            <a:avLst>
              <a:gd name="adj" fmla="val 3590"/>
            </a:avLst>
          </a:prstGeom>
          <a:solidFill>
            <a:srgbClr val="EAF3F6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60520" y="395935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160520" y="3959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636008" y="394106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Serving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197096" y="4507992"/>
            <a:ext cx="26609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Cassandra / Redis for fast access; HDFS/cloud for history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095744" y="4539996"/>
            <a:ext cx="310896" cy="292608"/>
          </a:xfrm>
          <a:prstGeom prst="chevron">
            <a:avLst/>
          </a:prstGeom>
          <a:solidFill>
            <a:srgbClr val="F2A541"/>
          </a:solidFill>
          <a:ln/>
        </p:spPr>
      </p:sp>
      <p:sp>
        <p:nvSpPr>
          <p:cNvPr id="33" name="Shape 31"/>
          <p:cNvSpPr/>
          <p:nvPr/>
        </p:nvSpPr>
        <p:spPr>
          <a:xfrm>
            <a:off x="7443216" y="3794760"/>
            <a:ext cx="3063240" cy="1783080"/>
          </a:xfrm>
          <a:prstGeom prst="roundRect">
            <a:avLst>
              <a:gd name="adj" fmla="val 3590"/>
            </a:avLst>
          </a:prstGeom>
          <a:solidFill>
            <a:srgbClr val="EAF3F6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07808" y="3959352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607808" y="3959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8083296" y="394106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7644384" y="4507992"/>
            <a:ext cx="26609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demand rendered on a live heatmap dashboard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 rot="5400000">
            <a:off x="10232136" y="3364992"/>
            <a:ext cx="502920" cy="219456"/>
          </a:xfrm>
          <a:prstGeom prst="chevron">
            <a:avLst/>
          </a:prstGeom>
          <a:solidFill>
            <a:srgbClr val="1C7293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historical trip data can be replayed through Kafka at accelerated speed to simulate a live GPS feed for demonstration.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Existing, proven technologies — the novelty is in how they're integrated into one real-time architecture.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02152" cy="1874520"/>
          </a:xfrm>
          <a:prstGeom prst="roundRect">
            <a:avLst>
              <a:gd name="adj" fmla="val 3902"/>
            </a:avLst>
          </a:prstGeom>
          <a:solidFill>
            <a:srgbClr val="EAF3F6"/>
          </a:solidFill>
          <a:ln/>
          <a:effectLst>
            <a:outerShdw sx="100000" sy="100000" kx="0" ky="0" algn="bl" rotWithShape="0" blurRad="76200" dist="25400" dir="5400000">
              <a:srgbClr val="9AA9B2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3736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7373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LAYER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121408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633472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ingestion of GPS &amp; trip events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06824" y="1554480"/>
            <a:ext cx="3502152" cy="1874520"/>
          </a:xfrm>
          <a:prstGeom prst="roundRect">
            <a:avLst>
              <a:gd name="adj" fmla="val 3902"/>
            </a:avLst>
          </a:prstGeom>
          <a:solidFill>
            <a:srgbClr val="EAF3F6"/>
          </a:solidFill>
          <a:ln/>
          <a:effectLst>
            <a:outerShdw sx="100000" sy="100000" kx="0" ky="0" algn="bl" rotWithShape="0" blurRad="76200" dist="25400" dir="5400000">
              <a:srgbClr val="9AA9B2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07992" y="173736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07992" y="17373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LAYER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507992" y="2121408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Structured Streaming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07992" y="2633472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streaming computation &amp; aggregation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65008" y="1554480"/>
            <a:ext cx="3502152" cy="1874520"/>
          </a:xfrm>
          <a:prstGeom prst="roundRect">
            <a:avLst>
              <a:gd name="adj" fmla="val 3902"/>
            </a:avLst>
          </a:prstGeom>
          <a:solidFill>
            <a:srgbClr val="EAF3F6"/>
          </a:solidFill>
          <a:ln/>
          <a:effectLst>
            <a:outerShdw sx="100000" sy="100000" kx="0" ky="0" algn="bl" rotWithShape="0" blurRad="76200" dist="25400" dir="5400000">
              <a:srgbClr val="9AA9B2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66176" y="173736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66176" y="17373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INDEXING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266176" y="2121408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/ Geohash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66176" y="2633472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Divides the city into uniform geographic zones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685032"/>
            <a:ext cx="3502152" cy="1874520"/>
          </a:xfrm>
          <a:prstGeom prst="roundRect">
            <a:avLst>
              <a:gd name="adj" fmla="val 3902"/>
            </a:avLst>
          </a:prstGeom>
          <a:solidFill>
            <a:srgbClr val="EAF3F6"/>
          </a:solidFill>
          <a:ln/>
          <a:effectLst>
            <a:outerShdw sx="100000" sy="100000" kx="0" ky="0" algn="bl" rotWithShape="0" blurRad="76200" dist="25400" dir="5400000">
              <a:srgbClr val="9AA9B2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3867912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9808" y="386791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STORAGE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" y="4251960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/ Cloud Storage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49808" y="4764024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raw &amp; processed data at scale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06824" y="3685032"/>
            <a:ext cx="3502152" cy="1874520"/>
          </a:xfrm>
          <a:prstGeom prst="roundRect">
            <a:avLst>
              <a:gd name="adj" fmla="val 3902"/>
            </a:avLst>
          </a:prstGeom>
          <a:solidFill>
            <a:srgbClr val="EAF3F6"/>
          </a:solidFill>
          <a:ln/>
          <a:effectLst>
            <a:outerShdw sx="100000" sy="100000" kx="0" ky="0" algn="bl" rotWithShape="0" blurRad="76200" dist="25400" dir="5400000">
              <a:srgbClr val="9AA9B2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07992" y="3867912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07992" y="386791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LAYER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507992" y="4251960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Cassandra / Redis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507992" y="4764024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Low-latency access to processed predictions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65008" y="3685032"/>
            <a:ext cx="3502152" cy="1874520"/>
          </a:xfrm>
          <a:prstGeom prst="roundRect">
            <a:avLst>
              <a:gd name="adj" fmla="val 3902"/>
            </a:avLst>
          </a:prstGeom>
          <a:solidFill>
            <a:srgbClr val="EAF3F6"/>
          </a:solidFill>
          <a:ln/>
          <a:effectLst>
            <a:outerShdw sx="100000" sy="100000" kx="0" ky="0" algn="bl" rotWithShape="0" blurRad="76200" dist="25400" dir="5400000">
              <a:srgbClr val="9AA9B2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66176" y="3867912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66176" y="386791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8266176" y="4251960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/ LSTM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266176" y="4764024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demand forecasting per zone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Visualization:  </a:t>
            </a:r>
            <a:pPr indent="0" marL="0">
              <a:buNone/>
            </a:pPr>
            <a:r>
              <a:rPr lang="en-US" sz="1150" dirty="0">
                <a:solidFill>
                  <a:srgbClr val="5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demand is rendered on a geographic heatmap dashboard (e.g., Plotly, Kepler.gl, or Streamlit).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80160" y="1005840"/>
            <a:ext cx="109728" cy="1097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" name="Shape 1"/>
          <p:cNvSpPr/>
          <p:nvPr/>
        </p:nvSpPr>
        <p:spPr>
          <a:xfrm>
            <a:off x="1920240" y="146304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92024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10607040" y="5394960"/>
            <a:ext cx="109728" cy="1097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6" name="Shape 4"/>
          <p:cNvSpPr/>
          <p:nvPr/>
        </p:nvSpPr>
        <p:spPr>
          <a:xfrm>
            <a:off x="11155680" y="585216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10149840" y="6035040"/>
            <a:ext cx="82296" cy="822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0" y="2606040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0" y="356616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30545" y="4251960"/>
            <a:ext cx="73152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0" y="44348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Ride-Sharing Demand Prediction Using GPS and Trip Data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2026-09-12T05:40:16Z</dcterms:created>
  <dcterms:modified xsi:type="dcterms:W3CDTF">2026-09-12T05:40:16Z</dcterms:modified>
</cp:coreProperties>
</file>